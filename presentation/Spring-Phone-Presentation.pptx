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74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8"/>
    <p:restoredTop sz="94725"/>
  </p:normalViewPr>
  <p:slideViewPr>
    <p:cSldViewPr snapToGrid="0" snapToObjects="1">
      <p:cViewPr varScale="1">
        <p:scale>
          <a:sx n="113" d="100"/>
          <a:sy n="113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005840"/>
            <a:ext cx="4754880" cy="914400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800" b="1">
                <a:solidFill>
                  <a:srgbClr val="3F3652"/>
                </a:solidFill>
                <a:latin typeface="Aptos Display"/>
              </a:rPr>
              <a:t>Spring Phone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38528"/>
            <a:ext cx="4389120" cy="640080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1" dirty="0">
                <a:solidFill>
                  <a:srgbClr val="6B6480"/>
                </a:solidFill>
                <a:latin typeface="Aptos"/>
              </a:rPr>
              <a:t>A Personalized App Store Backend Built with Spring Boot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97480"/>
            <a:ext cx="2926080" cy="640080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3F3652"/>
                </a:solidFill>
                <a:latin typeface="Aptos"/>
              </a:rPr>
              <a:t>Browse it. Love it. Buy it. Keep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1051560" cy="914400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F3652"/>
                </a:solidFill>
                <a:latin typeface="Aptos"/>
              </a:rPr>
              <a:t>Spring Boot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3749039"/>
            <a:ext cx="1051560" cy="914400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F3652"/>
                </a:solidFill>
                <a:latin typeface="Aptos"/>
              </a:rP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749039"/>
            <a:ext cx="1051560" cy="914400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F3652"/>
                </a:solidFill>
                <a:latin typeface="Aptos"/>
              </a:rPr>
              <a:t>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182880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91072" y="1764792"/>
            <a:ext cx="1499616" cy="3136392"/>
          </a:xfrm>
          <a:prstGeom prst="roundRect">
            <a:avLst/>
          </a:prstGeom>
          <a:solidFill>
            <a:srgbClr val="F8FC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82512" y="1920240"/>
            <a:ext cx="384048" cy="384048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03720" y="1920240"/>
            <a:ext cx="384048" cy="384048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82512" y="2542032"/>
            <a:ext cx="384048" cy="384048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03720" y="2542032"/>
            <a:ext cx="384048" cy="384048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0" y="4069080"/>
            <a:ext cx="740664" cy="740664"/>
          </a:xfrm>
          <a:prstGeom prst="ellipse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rc 17"/>
          <p:cNvSpPr/>
          <p:nvPr/>
        </p:nvSpPr>
        <p:spPr>
          <a:xfrm>
            <a:off x="7296912" y="3995928"/>
            <a:ext cx="781812" cy="452628"/>
          </a:xfrm>
          <a:prstGeom prst="arc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260336" y="4743907"/>
            <a:ext cx="822960" cy="946403"/>
          </a:xfrm>
          <a:prstGeom prst="roundRect">
            <a:avLst/>
          </a:prstGeom>
          <a:solidFill>
            <a:srgbClr val="BEEAD7"/>
          </a:solidFill>
          <a:ln w="12700"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516368" y="437997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08975" y="437997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44897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3F3652"/>
                </a:solidFill>
              </a:rPr>
              <a:t>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5472" y="5731459"/>
            <a:ext cx="946403" cy="310896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200" b="1" dirty="0">
                <a:solidFill>
                  <a:srgbClr val="3F3652"/>
                </a:solidFill>
                <a:latin typeface="Aptos"/>
              </a:rPr>
              <a:t>Brooks</a:t>
            </a:r>
            <a:endParaRPr sz="1200" b="1" dirty="0">
              <a:solidFill>
                <a:srgbClr val="3F365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Product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What Problem Are We Solving?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A tiny app store experience that feels personal, friendly, and organized.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57800"/>
            <a:ext cx="6949440" cy="685800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3F3652"/>
                </a:solidFill>
                <a:latin typeface="Aptos"/>
              </a:rPr>
              <a:t>After a user buys an app, that app disappears from that user's available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77440"/>
            <a:ext cx="1874519" cy="2240280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F3652"/>
                </a:solidFill>
                <a:latin typeface="Aptos"/>
              </a:rPr>
              <a:t>Explore apps easily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377440"/>
            <a:ext cx="1874519" cy="2240280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F3652"/>
                </a:solidFill>
                <a:latin typeface="Aptos"/>
              </a:rPr>
              <a:t>Purchase apps smoothly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377440"/>
            <a:ext cx="1874519" cy="2240280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3F3652"/>
                </a:solidFill>
                <a:latin typeface="Aptos"/>
              </a:rPr>
              <a:t>See what you already 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194560"/>
            <a:ext cx="10058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91271" y="2450591"/>
            <a:ext cx="676656" cy="1581912"/>
          </a:xfrm>
          <a:prstGeom prst="roundRect">
            <a:avLst/>
          </a:prstGeom>
          <a:solidFill>
            <a:srgbClr val="F8FC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User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 dirty="0">
                <a:solidFill>
                  <a:srgbClr val="3F3652"/>
                </a:solidFill>
                <a:latin typeface="Aptos Display"/>
              </a:rPr>
              <a:t>Meet </a:t>
            </a:r>
            <a:r>
              <a:rPr lang="en-US" altLang="zh-CN" sz="2400" b="1" dirty="0">
                <a:solidFill>
                  <a:srgbClr val="3F3652"/>
                </a:solidFill>
                <a:latin typeface="Aptos Display"/>
              </a:rPr>
              <a:t>Brooks</a:t>
            </a:r>
            <a:endParaRPr sz="2400" b="1" dirty="0">
              <a:solidFill>
                <a:srgbClr val="3F3652"/>
              </a:solidFill>
              <a:latin typeface="Aptos Display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One cute user story guides the whole project.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80"/>
            <a:ext cx="822960" cy="822960"/>
          </a:xfrm>
          <a:prstGeom prst="ellipse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rc 8"/>
          <p:cNvSpPr/>
          <p:nvPr/>
        </p:nvSpPr>
        <p:spPr>
          <a:xfrm>
            <a:off x="713232" y="2167128"/>
            <a:ext cx="868680" cy="502920"/>
          </a:xfrm>
          <a:prstGeom prst="arc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6656" y="2990088"/>
            <a:ext cx="914400" cy="1051560"/>
          </a:xfrm>
          <a:prstGeom prst="roundRect">
            <a:avLst/>
          </a:prstGeom>
          <a:solidFill>
            <a:srgbClr val="BEEAD7"/>
          </a:solidFill>
          <a:ln w="12700"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25296" y="255117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6609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3F3652"/>
                </a:solidFill>
              </a:rPr>
              <a:t>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87368"/>
            <a:ext cx="1051560" cy="310896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zh-CN" sz="1200" b="1" dirty="0">
                <a:solidFill>
                  <a:srgbClr val="3F3652"/>
                </a:solidFill>
                <a:latin typeface="Aptos"/>
              </a:rPr>
              <a:t>Brooks</a:t>
            </a:r>
            <a:endParaRPr sz="1200" b="1" dirty="0">
              <a:solidFill>
                <a:srgbClr val="3F3652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74519" y="2697480"/>
            <a:ext cx="1417320" cy="2103120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3F3652"/>
                </a:solidFill>
                <a:latin typeface="Aptos Display"/>
              </a:rPr>
              <a:t>Browse</a:t>
            </a:r>
          </a:p>
          <a:p>
            <a:pPr>
              <a:defRPr sz="1100">
                <a:solidFill>
                  <a:srgbClr val="3F3652"/>
                </a:solidFill>
                <a:latin typeface="Aptos"/>
              </a:defRPr>
            </a:pPr>
            <a:r>
              <a:rPr lang="en-US" altLang="zh-CN" dirty="0"/>
              <a:t>Brooks</a:t>
            </a:r>
            <a:r>
              <a:rPr dirty="0"/>
              <a:t> opens the store and looks around.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6480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39" y="2697480"/>
            <a:ext cx="1417320" cy="2103120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3F3652"/>
                </a:solidFill>
                <a:latin typeface="Aptos Display"/>
              </a:rPr>
              <a:t>Filter</a:t>
            </a:r>
          </a:p>
          <a:p>
            <a:pPr>
              <a:defRPr sz="1100">
                <a:solidFill>
                  <a:srgbClr val="3F3652"/>
                </a:solidFill>
                <a:latin typeface="Aptos"/>
              </a:defRPr>
            </a:pPr>
            <a:r>
              <a:rPr lang="en-US" altLang="zh-CN" dirty="0"/>
              <a:t>H</a:t>
            </a:r>
            <a:r>
              <a:rPr dirty="0"/>
              <a:t>e narrows apps by name or category.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6480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697480"/>
            <a:ext cx="1417320" cy="2103120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3F3652"/>
                </a:solidFill>
                <a:latin typeface="Aptos Display"/>
              </a:rPr>
              <a:t>Purchase</a:t>
            </a:r>
          </a:p>
          <a:p>
            <a:pPr>
              <a:defRPr sz="1100">
                <a:solidFill>
                  <a:srgbClr val="3F3652"/>
                </a:solidFill>
                <a:latin typeface="Aptos"/>
              </a:defRPr>
            </a:pPr>
            <a:r>
              <a:rPr lang="en" dirty="0"/>
              <a:t>He</a:t>
            </a:r>
            <a:r>
              <a:rPr dirty="0"/>
              <a:t> buys one app </a:t>
            </a:r>
            <a:r>
              <a:rPr lang="en" dirty="0"/>
              <a:t>He</a:t>
            </a:r>
            <a:r>
              <a:rPr dirty="0"/>
              <a:t> really likes.</a:t>
            </a:r>
            <a:r>
              <a:rPr lang="en-US" dirty="0"/>
              <a:t> Say </a:t>
            </a:r>
            <a:r>
              <a:rPr lang="en-US" dirty="0" err="1"/>
              <a:t>TravelMap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6480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697480"/>
            <a:ext cx="1417320" cy="2103120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3F3652"/>
                </a:solidFill>
                <a:latin typeface="Aptos Display"/>
              </a:rPr>
              <a:t>My Apps</a:t>
            </a:r>
          </a:p>
          <a:p>
            <a:pPr>
              <a:defRPr sz="1100">
                <a:solidFill>
                  <a:srgbClr val="3F3652"/>
                </a:solidFill>
                <a:latin typeface="Aptos"/>
              </a:defRPr>
            </a:pPr>
            <a:r>
              <a:rPr lang="en" dirty="0"/>
              <a:t>He</a:t>
            </a:r>
            <a:r>
              <a:rPr dirty="0"/>
              <a:t> now sees it in her purchased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3F3652"/>
                </a:solidFill>
                <a:latin typeface="Aptos"/>
              </a:rPr>
              <a:t>Business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What Changes After Purchase?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 dirty="0">
                <a:solidFill>
                  <a:srgbClr val="6B6480"/>
                </a:solidFill>
                <a:latin typeface="Aptos"/>
              </a:rPr>
              <a:t>The store view becomes personal for </a:t>
            </a:r>
            <a:r>
              <a:rPr lang="en" sz="1500" b="0" i="1" dirty="0">
                <a:solidFill>
                  <a:srgbClr val="6B6480"/>
                </a:solidFill>
                <a:latin typeface="Aptos"/>
              </a:rPr>
              <a:t>Brooks</a:t>
            </a:r>
            <a:r>
              <a:rPr sz="1500" b="0" i="1" dirty="0">
                <a:solidFill>
                  <a:srgbClr val="6B6480"/>
                </a:solidFill>
                <a:latin typeface="Aptos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80"/>
            <a:ext cx="822960" cy="822960"/>
          </a:xfrm>
          <a:prstGeom prst="ellipse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rc 8"/>
          <p:cNvSpPr/>
          <p:nvPr/>
        </p:nvSpPr>
        <p:spPr>
          <a:xfrm>
            <a:off x="713232" y="2167128"/>
            <a:ext cx="868680" cy="502920"/>
          </a:xfrm>
          <a:prstGeom prst="arc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6656" y="2990088"/>
            <a:ext cx="914400" cy="1051560"/>
          </a:xfrm>
          <a:prstGeom prst="roundRect">
            <a:avLst/>
          </a:prstGeom>
          <a:solidFill>
            <a:srgbClr val="BEEAD7"/>
          </a:solidFill>
          <a:ln w="12700"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25296" y="255117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6609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3F3652"/>
                </a:solidFill>
              </a:rPr>
              <a:t>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87368"/>
            <a:ext cx="1051560" cy="310896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" sz="1200" b="1" dirty="0">
                <a:solidFill>
                  <a:srgbClr val="3F3652"/>
                </a:solidFill>
                <a:latin typeface="Aptos"/>
              </a:rPr>
              <a:t>Brooks</a:t>
            </a:r>
            <a:endParaRPr sz="1200" b="1" dirty="0">
              <a:solidFill>
                <a:srgbClr val="3F3652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74519" y="2697480"/>
            <a:ext cx="1417320" cy="2103120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3F3652"/>
                </a:solidFill>
                <a:latin typeface="Aptos Display"/>
              </a:rPr>
              <a:t>Before</a:t>
            </a:r>
          </a:p>
          <a:p>
            <a:pPr>
              <a:defRPr sz="1100">
                <a:solidFill>
                  <a:srgbClr val="3F3652"/>
                </a:solidFill>
                <a:latin typeface="Aptos"/>
              </a:defRPr>
            </a:pPr>
            <a:r>
              <a:t>TravelMap appears in available apps.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6480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39" y="2697480"/>
            <a:ext cx="1417320" cy="2103120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3F3652"/>
                </a:solidFill>
                <a:latin typeface="Aptos Display"/>
              </a:rPr>
              <a:t>Buy</a:t>
            </a:r>
          </a:p>
          <a:p>
            <a:pPr>
              <a:defRPr sz="1100">
                <a:solidFill>
                  <a:srgbClr val="3F3652"/>
                </a:solidFill>
                <a:latin typeface="Aptos"/>
              </a:defRPr>
            </a:pPr>
            <a:r>
              <a:rPr lang="en" dirty="0"/>
              <a:t>Brooks</a:t>
            </a:r>
            <a:r>
              <a:rPr dirty="0"/>
              <a:t> purchases </a:t>
            </a:r>
            <a:r>
              <a:rPr dirty="0" err="1"/>
              <a:t>TravelMap</a:t>
            </a:r>
            <a:r>
              <a:rPr dirty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6480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697480"/>
            <a:ext cx="1417320" cy="2103120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3F3652"/>
                </a:solidFill>
                <a:latin typeface="Aptos Display"/>
              </a:rPr>
              <a:t>After</a:t>
            </a:r>
          </a:p>
          <a:p>
            <a:pPr>
              <a:defRPr sz="1100">
                <a:solidFill>
                  <a:srgbClr val="3F3652"/>
                </a:solidFill>
                <a:latin typeface="Aptos"/>
              </a:defRPr>
            </a:pPr>
            <a:r>
              <a:t>TravelMap moves into her owned apps.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6480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697480"/>
            <a:ext cx="1417320" cy="2103120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3F3652"/>
                </a:solidFill>
                <a:latin typeface="Aptos Display"/>
              </a:rPr>
              <a:t>Result</a:t>
            </a:r>
          </a:p>
          <a:p>
            <a:pPr>
              <a:defRPr sz="1100">
                <a:solidFill>
                  <a:srgbClr val="3F3652"/>
                </a:solidFill>
                <a:latin typeface="Aptos"/>
              </a:defRPr>
            </a:pPr>
            <a:r>
              <a:t>It no longer appears in her available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Three-Layer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A classic structure, organized around the user journey.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103120"/>
            <a:ext cx="5349240" cy="713232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3F3652"/>
                </a:solidFill>
                <a:latin typeface="Aptos Display"/>
              </a:rPr>
              <a:t>Controller Layer</a:t>
            </a:r>
          </a:p>
          <a:p>
            <a:pPr>
              <a:defRPr sz="1200">
                <a:solidFill>
                  <a:srgbClr val="6B6480"/>
                </a:solidFill>
                <a:latin typeface="Aptos"/>
              </a:defRPr>
            </a:pPr>
            <a:r>
              <a:t>Handles HTTP requests and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61487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B6480"/>
                </a:solidFill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063239"/>
            <a:ext cx="5349240" cy="71323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3F3652"/>
                </a:solidFill>
                <a:latin typeface="Aptos Display"/>
              </a:rPr>
              <a:t>Service Layer</a:t>
            </a:r>
          </a:p>
          <a:p>
            <a:pPr>
              <a:defRPr sz="1200">
                <a:solidFill>
                  <a:srgbClr val="6B6480"/>
                </a:solidFill>
                <a:latin typeface="Aptos"/>
              </a:defRPr>
            </a:pPr>
            <a:r>
              <a:t>Contains business rules and core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721607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B6480"/>
                </a:solidFill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4023360"/>
            <a:ext cx="5349240" cy="713232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3F3652"/>
                </a:solidFill>
                <a:latin typeface="Aptos Display"/>
              </a:rPr>
              <a:t>Repository Layer</a:t>
            </a:r>
          </a:p>
          <a:p>
            <a:pPr>
              <a:defRPr sz="1200">
                <a:solidFill>
                  <a:srgbClr val="6B6480"/>
                </a:solidFill>
                <a:latin typeface="Aptos"/>
              </a:defRPr>
            </a:pPr>
            <a:r>
              <a:t>Reads and writes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6817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B6480"/>
                </a:solidFill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983480"/>
            <a:ext cx="5349240" cy="71323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3F3652"/>
                </a:solidFill>
                <a:latin typeface="Aptos Display"/>
              </a:rPr>
              <a:t>MySQL Database</a:t>
            </a:r>
          </a:p>
          <a:p>
            <a:pPr>
              <a:defRPr sz="1200">
                <a:solidFill>
                  <a:srgbClr val="6B6480"/>
                </a:solidFill>
                <a:latin typeface="Aptos"/>
              </a:defRPr>
            </a:pPr>
            <a:r>
              <a:t>Stores apps, users, and purchases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331720"/>
            <a:ext cx="1097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96912" y="2587752"/>
            <a:ext cx="768096" cy="1719072"/>
          </a:xfrm>
          <a:prstGeom prst="roundRect">
            <a:avLst/>
          </a:prstGeom>
          <a:solidFill>
            <a:srgbClr val="F8FC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, 聊天或短信&#10;&#10;AI 生成的内容可能不正确。">
            <a:extLst>
              <a:ext uri="{FF2B5EF4-FFF2-40B4-BE49-F238E27FC236}">
                <a16:creationId xmlns:a16="http://schemas.microsoft.com/office/drawing/2014/main" id="{43CE94E4-5FF6-F30C-BDC4-29F8B90A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488"/>
            <a:ext cx="9114034" cy="478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3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910D63F-3F2F-CCB0-3807-3B45D1DA6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4163"/>
            <a:ext cx="9093050" cy="420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77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A7A8E4E0-32E3-ABA1-9BEE-62F2D6654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647"/>
            <a:ext cx="8971508" cy="477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8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Design Choice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Why Three Layers?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It keeps the system simple for today and flexible for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Clear responsibilities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Easier maintenance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Cleaner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Controllers expose APIs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Services enforce rules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Repositories access 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2423160"/>
            <a:ext cx="1417320" cy="329184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Benefits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9432" y="2423160"/>
            <a:ext cx="2027146" cy="32918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3F3652"/>
                </a:solidFill>
                <a:latin typeface="Aptos"/>
              </a:rPr>
              <a:t>What It Means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Domain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Our Core Data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Three simple entities build the whole app store 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77440"/>
            <a:ext cx="1828800" cy="2148840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3F3652"/>
                </a:solidFill>
                <a:latin typeface="Aptos Display"/>
              </a:rPr>
              <a:t>App</a:t>
            </a:r>
          </a:p>
          <a:p>
            <a:pPr algn="ctr">
              <a:defRPr sz="1200">
                <a:solidFill>
                  <a:srgbClr val="3F3652"/>
                </a:solidFill>
                <a:latin typeface="Aptos"/>
              </a:defRPr>
            </a:pPr>
            <a:r>
              <a:rPr sz="1600" dirty="0"/>
              <a:t>id, name, category, price, 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377440"/>
            <a:ext cx="1828800" cy="2148840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3F3652"/>
                </a:solidFill>
                <a:latin typeface="Aptos Display"/>
              </a:rPr>
              <a:t>User</a:t>
            </a:r>
          </a:p>
          <a:p>
            <a:pPr algn="ctr">
              <a:defRPr sz="1200">
                <a:solidFill>
                  <a:srgbClr val="3F3652"/>
                </a:solidFill>
                <a:latin typeface="Aptos"/>
              </a:defRPr>
            </a:pPr>
            <a:r>
              <a:rPr sz="1600" dirty="0"/>
              <a:t>id, username,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377440"/>
            <a:ext cx="1828800" cy="2148840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3F3652"/>
                </a:solidFill>
                <a:latin typeface="Aptos Display"/>
              </a:rPr>
              <a:t>Purchase</a:t>
            </a:r>
            <a:endParaRPr sz="1700" b="1" dirty="0">
              <a:solidFill>
                <a:srgbClr val="3F3652"/>
              </a:solidFill>
              <a:latin typeface="Aptos Display"/>
            </a:endParaRPr>
          </a:p>
          <a:p>
            <a:pPr algn="ctr">
              <a:defRPr sz="1200">
                <a:solidFill>
                  <a:srgbClr val="3F3652"/>
                </a:solidFill>
                <a:latin typeface="Aptos"/>
              </a:defRPr>
            </a:pPr>
            <a:r>
              <a:rPr sz="1600" dirty="0"/>
              <a:t>id, user, app, </a:t>
            </a:r>
            <a:r>
              <a:rPr sz="1600" dirty="0" err="1"/>
              <a:t>purchaseTime</a:t>
            </a:r>
            <a:endParaRPr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3474720" y="482803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6B6480"/>
                </a:solidFill>
              </a:rPr>
              <a:t>User  ↔  Purchase  ↔ 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5303520"/>
            <a:ext cx="6309360" cy="502920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3F3652"/>
                </a:solidFill>
                <a:latin typeface="Aptos"/>
              </a:rPr>
              <a:t>Purchase is the key entity because it records ownership.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Personalization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What Makes the Store Personal?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Available apps are calculated for each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6675120" cy="1005840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3F3652"/>
                </a:solidFill>
                <a:latin typeface="Aptos Display"/>
              </a:rPr>
              <a:t>All Apps  -  Purchased Apps  =  Available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703320"/>
            <a:ext cx="4480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700"/>
              </a:spcAft>
              <a:defRPr sz="1600">
                <a:solidFill>
                  <a:srgbClr val="3F3652"/>
                </a:solidFill>
                <a:latin typeface="Aptos"/>
              </a:defRPr>
            </a:pPr>
            <a:r>
              <a:rPr dirty="0"/>
              <a:t>• An app does not disappear from the whole store</a:t>
            </a:r>
          </a:p>
          <a:p>
            <a:pPr>
              <a:spcAft>
                <a:spcPts val="700"/>
              </a:spcAft>
              <a:defRPr sz="1600">
                <a:solidFill>
                  <a:srgbClr val="3F3652"/>
                </a:solidFill>
                <a:latin typeface="Aptos"/>
              </a:defRPr>
            </a:pPr>
            <a:r>
              <a:rPr dirty="0"/>
              <a:t>• It only disappears for the user who already bought it</a:t>
            </a:r>
          </a:p>
          <a:p>
            <a:pPr>
              <a:spcAft>
                <a:spcPts val="700"/>
              </a:spcAft>
              <a:defRPr sz="1600">
                <a:solidFill>
                  <a:srgbClr val="3F3652"/>
                </a:solidFill>
                <a:latin typeface="Aptos"/>
              </a:defRPr>
            </a:pPr>
            <a:r>
              <a:rPr dirty="0"/>
              <a:t>• Each user gets a personalized store view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3200400"/>
            <a:ext cx="905256" cy="905256"/>
          </a:xfrm>
          <a:prstGeom prst="ellipse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/>
          <p:cNvSpPr/>
          <p:nvPr/>
        </p:nvSpPr>
        <p:spPr>
          <a:xfrm>
            <a:off x="6565392" y="3127248"/>
            <a:ext cx="955547" cy="553212"/>
          </a:xfrm>
          <a:prstGeom prst="arc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28816" y="4025188"/>
            <a:ext cx="1005840" cy="1156716"/>
          </a:xfrm>
          <a:prstGeom prst="roundRect">
            <a:avLst/>
          </a:prstGeom>
          <a:solidFill>
            <a:srgbClr val="BEEAD7"/>
          </a:solidFill>
          <a:ln w="12700"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84848" y="351129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77456" y="351129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48272" y="362102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3F3652"/>
                </a:solidFill>
              </a:rPr>
              <a:t>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5232196"/>
            <a:ext cx="1156716" cy="310896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" sz="1200" b="1" dirty="0">
                <a:solidFill>
                  <a:srgbClr val="3F3652"/>
                </a:solidFill>
                <a:latin typeface="Aptos"/>
              </a:rPr>
              <a:t>Brooks</a:t>
            </a:r>
            <a:endParaRPr sz="1200" b="1" dirty="0">
              <a:solidFill>
                <a:srgbClr val="3F365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Request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 dirty="0">
                <a:solidFill>
                  <a:srgbClr val="3F3652"/>
                </a:solidFill>
                <a:latin typeface="Aptos Display"/>
              </a:rPr>
              <a:t>Example Flow: </a:t>
            </a:r>
            <a:r>
              <a:rPr lang="en" sz="2400" b="1" dirty="0">
                <a:solidFill>
                  <a:srgbClr val="3F3652"/>
                </a:solidFill>
                <a:latin typeface="Aptos Display"/>
              </a:rPr>
              <a:t>Brooks</a:t>
            </a:r>
            <a:r>
              <a:rPr sz="2400" b="1" dirty="0">
                <a:solidFill>
                  <a:srgbClr val="3F3652"/>
                </a:solidFill>
                <a:latin typeface="Aptos Display"/>
              </a:rPr>
              <a:t> Buys </a:t>
            </a:r>
            <a:r>
              <a:rPr sz="2400" b="1" dirty="0" err="1">
                <a:solidFill>
                  <a:srgbClr val="3F3652"/>
                </a:solidFill>
                <a:latin typeface="Aptos Display"/>
              </a:rPr>
              <a:t>TravelMap</a:t>
            </a:r>
            <a:endParaRPr sz="2400" b="1" dirty="0">
              <a:solidFill>
                <a:srgbClr val="3F3652"/>
              </a:solidFill>
              <a:latin typeface="Aptos Display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One request moving through all three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6355080" cy="457200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3F3652"/>
                </a:solidFill>
                <a:latin typeface="Aptos"/>
              </a:rPr>
              <a:t>POST /api/users/1/purchases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706624"/>
            <a:ext cx="6355080" cy="457200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3F3652"/>
                </a:solidFill>
                <a:latin typeface="Aptos"/>
              </a:rPr>
              <a:t>Controller receives the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10128"/>
            <a:ext cx="6355080" cy="457200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3F3652"/>
                </a:solidFill>
                <a:latin typeface="Aptos"/>
              </a:rPr>
              <a:t>Service checks the user and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913631"/>
            <a:ext cx="6355080" cy="457200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3F3652"/>
                </a:solidFill>
                <a:latin typeface="Aptos"/>
              </a:rPr>
              <a:t>Service validates duplicate purchase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17136"/>
            <a:ext cx="6355080" cy="457200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3F3652"/>
                </a:solidFill>
                <a:latin typeface="Aptos"/>
              </a:rPr>
              <a:t>Repository saves the purchase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5120640"/>
            <a:ext cx="6355080" cy="457200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3F3652"/>
                </a:solidFill>
                <a:latin typeface="Aptos"/>
              </a:rPr>
              <a:t>TravelMap appears in My Apps and disappears from Available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606040"/>
            <a:ext cx="11430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62671" y="2862072"/>
            <a:ext cx="813816" cy="1856231"/>
          </a:xfrm>
          <a:prstGeom prst="roundRect">
            <a:avLst/>
          </a:prstGeom>
          <a:solidFill>
            <a:srgbClr val="F8FC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Browse and Discover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The first part of the journey is exploration.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40280"/>
            <a:ext cx="6720840" cy="749808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F3652"/>
                </a:solidFill>
                <a:latin typeface="Aptos Display"/>
              </a:rPr>
              <a:t>GET /api/apps</a:t>
            </a:r>
          </a:p>
          <a:p>
            <a:pPr>
              <a:defRPr sz="1200">
                <a:solidFill>
                  <a:srgbClr val="6B6480"/>
                </a:solidFill>
                <a:latin typeface="Aptos"/>
              </a:defRPr>
            </a:pPr>
            <a:r>
              <a:t>Browse all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91840"/>
            <a:ext cx="6720840" cy="749808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F3652"/>
                </a:solidFill>
                <a:latin typeface="Aptos Display"/>
              </a:rPr>
              <a:t>GET /api/apps?name=...&amp;category=...</a:t>
            </a:r>
          </a:p>
          <a:p>
            <a:pPr>
              <a:defRPr sz="1200">
                <a:solidFill>
                  <a:srgbClr val="6B6480"/>
                </a:solidFill>
                <a:latin typeface="Aptos"/>
              </a:defRPr>
            </a:pPr>
            <a:r>
              <a:t>Search and filter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343400"/>
            <a:ext cx="6720840" cy="749808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F3652"/>
                </a:solidFill>
                <a:latin typeface="Aptos Display"/>
              </a:rPr>
              <a:t>GET /api/users/{userId}/apps/available</a:t>
            </a:r>
          </a:p>
          <a:p>
            <a:pPr>
              <a:defRPr sz="1200">
                <a:solidFill>
                  <a:srgbClr val="6B6480"/>
                </a:solidFill>
                <a:latin typeface="Aptos"/>
              </a:defRPr>
            </a:pPr>
            <a:r>
              <a:t>Show apps available to one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423160"/>
            <a:ext cx="914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91271" y="2679191"/>
            <a:ext cx="585216" cy="1353312"/>
          </a:xfrm>
          <a:prstGeom prst="roundRect">
            <a:avLst/>
          </a:prstGeom>
          <a:solidFill>
            <a:srgbClr val="F8FC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Purchase and Ownership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The second part of the journey is ownership.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40280"/>
            <a:ext cx="6720840" cy="749808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F3652"/>
                </a:solidFill>
                <a:latin typeface="Aptos Display"/>
              </a:rPr>
              <a:t>POST /api/users/{userId}/purchases</a:t>
            </a:r>
          </a:p>
          <a:p>
            <a:pPr>
              <a:defRPr sz="1200">
                <a:solidFill>
                  <a:srgbClr val="6B6480"/>
                </a:solidFill>
                <a:latin typeface="Aptos"/>
              </a:defRPr>
            </a:pPr>
            <a:r>
              <a:t>Purchase an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91840"/>
            <a:ext cx="6720840" cy="749808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F3652"/>
                </a:solidFill>
                <a:latin typeface="Aptos Display"/>
              </a:rPr>
              <a:t>GET /api/users/{userId}/purchases</a:t>
            </a:r>
          </a:p>
          <a:p>
            <a:pPr>
              <a:defRPr sz="1200">
                <a:solidFill>
                  <a:srgbClr val="6B6480"/>
                </a:solidFill>
                <a:latin typeface="Aptos"/>
              </a:defRPr>
            </a:pPr>
            <a:r>
              <a:t>List purchased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423160"/>
            <a:ext cx="9144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91271" y="2679191"/>
            <a:ext cx="585216" cy="1353312"/>
          </a:xfrm>
          <a:prstGeom prst="roundRect">
            <a:avLst/>
          </a:prstGeom>
          <a:solidFill>
            <a:srgbClr val="F8FC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Service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Where the Business Rules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Our services are the brain of the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Browse all apps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Search by name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Filter by 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Validate user and app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Prevent duplicate purchase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Return purchased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2423160"/>
            <a:ext cx="1417320" cy="329184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AppService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9431" y="2423160"/>
            <a:ext cx="1688479" cy="32918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3F3652"/>
                </a:solidFill>
                <a:latin typeface="Aptos"/>
              </a:rPr>
              <a:t>PurchaseService</a:t>
            </a:r>
            <a:endParaRPr sz="1300" b="1" dirty="0">
              <a:solidFill>
                <a:srgbClr val="3F365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How Data Lives Between 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We connect the backend to MySQL so data stays safe after restart.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mobile_app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store_user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purchase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337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Real persistence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Realistic demo data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Reliable hackathon showcase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2423160"/>
            <a:ext cx="1417320" cy="329184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Stored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9432" y="2423160"/>
            <a:ext cx="1417320" cy="32918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Why It Matters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How We Tested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We covered both happy paths and edge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3200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Browse apps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Filter by name and category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Successful purchase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Purchased list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31720"/>
            <a:ext cx="3200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Duplicate purchase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Missing user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Missing app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Empty result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514600"/>
            <a:ext cx="1417320" cy="329184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Happy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2514600"/>
            <a:ext cx="1417320" cy="32918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Edge Cases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Future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If We Had More Time...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A small project with room to grow.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86000"/>
            <a:ext cx="3154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Ratings and reviews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Recommendations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Admin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154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685800" rIns="137160" rtlCol="0" anchor="ctr"/>
          <a:lstStyle/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Local cache for repeated purchase checks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Pagination and sorting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Global exception handling</a:t>
            </a:r>
          </a:p>
          <a:p>
            <a:pPr>
              <a:spcAft>
                <a:spcPts val="800"/>
              </a:spcAft>
              <a:defRPr sz="1800">
                <a:solidFill>
                  <a:srgbClr val="3F3652"/>
                </a:solidFill>
                <a:latin typeface="Aptos"/>
              </a:defRPr>
            </a:pPr>
            <a:r>
              <a:rPr dirty="0"/>
              <a:t>• Integration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" y="2468880"/>
            <a:ext cx="1417320" cy="329184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Product Ideas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2468880"/>
            <a:ext cx="1417320" cy="329184"/>
          </a:xfrm>
          <a:prstGeom prst="roundRect">
            <a:avLst/>
          </a:prstGeom>
          <a:solidFill>
            <a:srgbClr val="BFDF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Technical Ideas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274320"/>
            <a:ext cx="1143000" cy="164592"/>
          </a:xfrm>
          <a:prstGeom prst="roundRect">
            <a:avLst/>
          </a:prstGeom>
          <a:solidFill>
            <a:srgbClr val="BEEAD7"/>
          </a:solidFill>
          <a:ln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6291072"/>
            <a:ext cx="621792" cy="146304"/>
          </a:xfrm>
          <a:prstGeom prst="roundRect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6199632"/>
            <a:ext cx="841248" cy="146304"/>
          </a:xfrm>
          <a:prstGeom prst="roundRect">
            <a:avLst/>
          </a:prstGeom>
          <a:solidFill>
            <a:srgbClr val="E9E4F5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92608"/>
            <a:ext cx="1554480" cy="347472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F3652"/>
                </a:solidFill>
                <a:latin typeface="Aptos"/>
              </a:rPr>
              <a:t>Closing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749808"/>
            <a:ext cx="7406640" cy="749808"/>
          </a:xfrm>
          <a:prstGeom prst="roundRect">
            <a:avLst/>
          </a:prstGeom>
          <a:solidFill>
            <a:srgbClr val="FFF1F7"/>
          </a:solidFill>
          <a:ln>
            <a:solidFill>
              <a:srgbClr val="FF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3F3652"/>
                </a:solidFill>
                <a:latin typeface="Aptos Display"/>
              </a:rP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6858000" cy="493776"/>
          </a:xfrm>
          <a:prstGeom prst="round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i="1">
                <a:solidFill>
                  <a:srgbClr val="6B6480"/>
                </a:solidFill>
                <a:latin typeface="Aptos"/>
              </a:rPr>
              <a:t>From discovery to ownership, every step is simple, personal, and structured.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86000"/>
            <a:ext cx="54864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700"/>
              </a:spcAft>
              <a:defRPr sz="1700">
                <a:solidFill>
                  <a:srgbClr val="3F3652"/>
                </a:solidFill>
                <a:latin typeface="Aptos"/>
              </a:defRPr>
            </a:pPr>
            <a:r>
              <a:rPr dirty="0"/>
              <a:t>• We designed Spring Phone around a user journey</a:t>
            </a:r>
          </a:p>
          <a:p>
            <a:pPr>
              <a:spcAft>
                <a:spcPts val="700"/>
              </a:spcAft>
              <a:defRPr sz="1700">
                <a:solidFill>
                  <a:srgbClr val="3F3652"/>
                </a:solidFill>
                <a:latin typeface="Aptos"/>
              </a:defRPr>
            </a:pPr>
            <a:r>
              <a:rPr dirty="0"/>
              <a:t>• We implemented it with a clean three-layer Spring architecture</a:t>
            </a:r>
          </a:p>
          <a:p>
            <a:pPr>
              <a:spcAft>
                <a:spcPts val="700"/>
              </a:spcAft>
              <a:defRPr sz="1700">
                <a:solidFill>
                  <a:srgbClr val="3F3652"/>
                </a:solidFill>
                <a:latin typeface="Aptos"/>
              </a:defRPr>
            </a:pPr>
            <a:r>
              <a:rPr dirty="0"/>
              <a:t>• We built a backend that is small, clear, and ready to grow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377440"/>
            <a:ext cx="13258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22592" y="2633472"/>
            <a:ext cx="996695" cy="2084831"/>
          </a:xfrm>
          <a:prstGeom prst="roundRect">
            <a:avLst/>
          </a:prstGeom>
          <a:solidFill>
            <a:srgbClr val="F8FCFF"/>
          </a:solidFill>
          <a:ln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60920" y="4617720"/>
            <a:ext cx="658368" cy="658368"/>
          </a:xfrm>
          <a:prstGeom prst="ellipse">
            <a:avLst/>
          </a:prstGeom>
          <a:solidFill>
            <a:srgbClr val="FFD6C9"/>
          </a:solidFill>
          <a:ln>
            <a:solidFill>
              <a:srgbClr val="F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c 11"/>
          <p:cNvSpPr/>
          <p:nvPr/>
        </p:nvSpPr>
        <p:spPr>
          <a:xfrm>
            <a:off x="7342632" y="4544568"/>
            <a:ext cx="694944" cy="402336"/>
          </a:xfrm>
          <a:prstGeom prst="arc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06056" y="5217566"/>
            <a:ext cx="731520" cy="841247"/>
          </a:xfrm>
          <a:prstGeom prst="roundRect">
            <a:avLst/>
          </a:prstGeom>
          <a:solidFill>
            <a:srgbClr val="BEEAD7"/>
          </a:solidFill>
          <a:ln w="12700">
            <a:solidFill>
              <a:srgbClr val="BEE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562088" y="492861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854696" y="4928616"/>
            <a:ext cx="54864" cy="54864"/>
          </a:xfrm>
          <a:prstGeom prst="ellipse">
            <a:avLst/>
          </a:prstGeom>
          <a:solidFill>
            <a:srgbClr val="3F3652"/>
          </a:solidFill>
          <a:ln>
            <a:solidFill>
              <a:srgbClr val="3F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25512" y="503834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3F3652"/>
                </a:solidFill>
              </a:rPr>
              <a:t>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6095390"/>
            <a:ext cx="841247" cy="310896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" sz="1200" b="1" dirty="0">
                <a:solidFill>
                  <a:srgbClr val="3F3652"/>
                </a:solidFill>
                <a:latin typeface="Aptos"/>
              </a:rPr>
              <a:t>Brooks</a:t>
            </a:r>
            <a:endParaRPr sz="1200" b="1" dirty="0">
              <a:solidFill>
                <a:srgbClr val="3F3652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55080" y="5303520"/>
            <a:ext cx="1645920" cy="457200"/>
          </a:xfrm>
          <a:prstGeom prst="roundRect">
            <a:avLst/>
          </a:prstGeom>
          <a:solidFill>
            <a:srgbClr val="FFF1B8"/>
          </a:solidFill>
          <a:ln>
            <a:solidFill>
              <a:srgbClr val="FFF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3F3652"/>
                </a:solidFill>
                <a:latin typeface="Apto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777</Words>
  <Application>Microsoft Macintosh PowerPoint</Application>
  <PresentationFormat>全屏显示(4:3)</PresentationFormat>
  <Paragraphs>174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Ian Gao</cp:lastModifiedBy>
  <cp:revision>12</cp:revision>
  <dcterms:created xsi:type="dcterms:W3CDTF">2013-01-27T09:14:16Z</dcterms:created>
  <dcterms:modified xsi:type="dcterms:W3CDTF">2026-03-27T06:57:35Z</dcterms:modified>
  <cp:category/>
</cp:coreProperties>
</file>